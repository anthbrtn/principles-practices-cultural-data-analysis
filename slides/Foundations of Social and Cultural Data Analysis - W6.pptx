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c8b9ff3e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c8b9ff3e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cc4119323f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cc4119323f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da7bc18ef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da7bc18ef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da7bc18e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da7bc18e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a7bc18ef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a7bc18ef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a7bc18ef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a7bc18ef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a7bc18ef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a7bc18ef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a7bc18ef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da7bc18ef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da7bc18ef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da7bc18ef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a7bc18ef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a7bc18ef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a7bc18ef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da7bc18ef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a7bc18ef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a7bc18ef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da7bc18ef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da7bc18ef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172" y="204740"/>
            <a:ext cx="8228700" cy="858900"/>
          </a:xfrm>
          <a:prstGeom prst="rect">
            <a:avLst/>
          </a:prstGeom>
          <a:noFill/>
          <a:ln>
            <a:noFill/>
          </a:ln>
        </p:spPr>
        <p:txBody>
          <a:bodyPr anchorCtr="0" anchor="ctr" bIns="0" lIns="0" spcFirstLastPara="1" rIns="0" wrap="square" tIns="0">
            <a:norm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84" name="Google Shape;84;p13"/>
          <p:cNvSpPr txBox="1"/>
          <p:nvPr>
            <p:ph idx="1" type="body"/>
          </p:nvPr>
        </p:nvSpPr>
        <p:spPr>
          <a:xfrm>
            <a:off x="457172" y="1203299"/>
            <a:ext cx="8228700" cy="2982600"/>
          </a:xfrm>
          <a:prstGeom prst="rect">
            <a:avLst/>
          </a:prstGeom>
          <a:noFill/>
          <a:ln>
            <a:noFill/>
          </a:ln>
        </p:spPr>
        <p:txBody>
          <a:bodyPr anchorCtr="0" anchor="t" bIns="0" lIns="0" spcFirstLastPara="1" rIns="0" wrap="square" tIns="0">
            <a:normAutofit/>
          </a:bodyPr>
          <a:lstStyle>
            <a:lvl1pPr indent="-228600" lvl="0" marL="457200" rtl="0" algn="l">
              <a:spcBef>
                <a:spcPts val="0"/>
              </a:spcBef>
              <a:spcAft>
                <a:spcPts val="0"/>
              </a:spcAft>
              <a:buSzPts val="1300"/>
              <a:buNone/>
              <a:defRPr/>
            </a:lvl1pPr>
            <a:lvl2pPr indent="-228600" lvl="1" marL="914400" rtl="0" algn="l">
              <a:spcBef>
                <a:spcPts val="1200"/>
              </a:spcBef>
              <a:spcAft>
                <a:spcPts val="0"/>
              </a:spcAft>
              <a:buSzPts val="1100"/>
              <a:buNone/>
              <a:defRPr/>
            </a:lvl2pPr>
            <a:lvl3pPr indent="-228600" lvl="2" marL="1371600" rtl="0" algn="l">
              <a:spcBef>
                <a:spcPts val="1200"/>
              </a:spcBef>
              <a:spcAft>
                <a:spcPts val="0"/>
              </a:spcAft>
              <a:buSzPts val="1100"/>
              <a:buNone/>
              <a:defRPr/>
            </a:lvl3pPr>
            <a:lvl4pPr indent="-228600" lvl="3" marL="1828800" rtl="0" algn="l">
              <a:spcBef>
                <a:spcPts val="1200"/>
              </a:spcBef>
              <a:spcAft>
                <a:spcPts val="0"/>
              </a:spcAft>
              <a:buSzPts val="1100"/>
              <a:buNone/>
              <a:defRPr/>
            </a:lvl4pPr>
            <a:lvl5pPr indent="-228600" lvl="4" marL="2286000" rtl="0" algn="l">
              <a:spcBef>
                <a:spcPts val="1200"/>
              </a:spcBef>
              <a:spcAft>
                <a:spcPts val="0"/>
              </a:spcAft>
              <a:buSzPts val="1100"/>
              <a:buNone/>
              <a:defRPr/>
            </a:lvl5pPr>
            <a:lvl6pPr indent="-228600" lvl="5" marL="2743200" rtl="0" algn="l">
              <a:spcBef>
                <a:spcPts val="1200"/>
              </a:spcBef>
              <a:spcAft>
                <a:spcPts val="0"/>
              </a:spcAft>
              <a:buSzPts val="1100"/>
              <a:buNone/>
              <a:defRPr/>
            </a:lvl6pPr>
            <a:lvl7pPr indent="-228600" lvl="6" marL="3200400" rtl="0" algn="l">
              <a:spcBef>
                <a:spcPts val="1200"/>
              </a:spcBef>
              <a:spcAft>
                <a:spcPts val="0"/>
              </a:spcAft>
              <a:buSzPts val="1100"/>
              <a:buNone/>
              <a:defRPr/>
            </a:lvl7pPr>
            <a:lvl8pPr indent="-228600" lvl="7" marL="3657600" rtl="0" algn="l">
              <a:spcBef>
                <a:spcPts val="1200"/>
              </a:spcBef>
              <a:spcAft>
                <a:spcPts val="0"/>
              </a:spcAft>
              <a:buSzPts val="1100"/>
              <a:buNone/>
              <a:defRPr/>
            </a:lvl8pPr>
            <a:lvl9pPr indent="-228600" lvl="8" marL="4114800" rtl="0" algn="l">
              <a:spcBef>
                <a:spcPts val="1200"/>
              </a:spcBef>
              <a:spcAft>
                <a:spcPts val="120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Foundations of Social and Cultural Data Analysis</a:t>
            </a:r>
            <a:endParaRPr/>
          </a:p>
        </p:txBody>
      </p:sp>
      <p:sp>
        <p:nvSpPr>
          <p:cNvPr id="90" name="Google Shape;90;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Dr. Nanne van Noord &amp; Dr. Melvin Wevers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Common Summary Statistics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Logarithmic scale</a:t>
            </a:r>
            <a:endParaRPr/>
          </a:p>
        </p:txBody>
      </p:sp>
      <p:sp>
        <p:nvSpPr>
          <p:cNvPr id="101" name="Google Shape;101;p16"/>
          <p:cNvSpPr txBox="1"/>
          <p:nvPr>
            <p:ph idx="1" type="body"/>
          </p:nvPr>
        </p:nvSpPr>
        <p:spPr>
          <a:xfrm>
            <a:off x="729450" y="2078875"/>
            <a:ext cx="4889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For skewed data, we often rely on the logarithm. This makes smaller differences more visible</a:t>
            </a:r>
            <a:endParaRPr/>
          </a:p>
          <a:p>
            <a:pPr indent="0" lvl="0" marL="0" rtl="0" algn="l">
              <a:spcBef>
                <a:spcPts val="1200"/>
              </a:spcBef>
              <a:spcAft>
                <a:spcPts val="0"/>
              </a:spcAft>
              <a:buNone/>
            </a:pPr>
            <a:r>
              <a:rPr lang="en-GB"/>
              <a:t>The base-10 logarithm of a number x is the power to which 10 must be raised to obtain x</a:t>
            </a:r>
            <a:endParaRPr/>
          </a:p>
          <a:p>
            <a:pPr indent="0" lvl="0" marL="0" rtl="0" algn="l">
              <a:spcBef>
                <a:spcPts val="1200"/>
              </a:spcBef>
              <a:spcAft>
                <a:spcPts val="0"/>
              </a:spcAft>
              <a:buNone/>
            </a:pPr>
            <a:r>
              <a:rPr lang="en-GB"/>
              <a:t>10² = 100</a:t>
            </a:r>
            <a:endParaRPr/>
          </a:p>
          <a:p>
            <a:pPr indent="0" lvl="0" marL="0" rtl="0" algn="l">
              <a:spcBef>
                <a:spcPts val="1200"/>
              </a:spcBef>
              <a:spcAft>
                <a:spcPts val="1200"/>
              </a:spcAft>
              <a:buNone/>
            </a:pPr>
            <a:r>
              <a:rPr lang="en-GB"/>
              <a:t>Log</a:t>
            </a:r>
            <a:r>
              <a:rPr baseline="-25000" lang="en-GB"/>
              <a:t>10 </a:t>
            </a:r>
            <a:r>
              <a:rPr lang="en-GB"/>
              <a:t>(100) = 2</a:t>
            </a:r>
            <a:endParaRPr/>
          </a:p>
        </p:txBody>
      </p:sp>
      <p:pic>
        <p:nvPicPr>
          <p:cNvPr id="102" name="Google Shape;102;p16"/>
          <p:cNvPicPr preferRelativeResize="0"/>
          <p:nvPr/>
        </p:nvPicPr>
        <p:blipFill>
          <a:blip r:embed="rId3">
            <a:alphaModFix/>
          </a:blip>
          <a:stretch>
            <a:fillRect/>
          </a:stretch>
        </p:blipFill>
        <p:spPr>
          <a:xfrm>
            <a:off x="5771550" y="2006250"/>
            <a:ext cx="3220050" cy="24409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Mean: Capturing the Average</a:t>
            </a:r>
            <a:endParaRPr/>
          </a:p>
        </p:txBody>
      </p:sp>
      <p:sp>
        <p:nvSpPr>
          <p:cNvPr id="108" name="Google Shape;108;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GB"/>
              <a:t>Definition: The mean is the average of all numbers in a dataset.</a:t>
            </a:r>
            <a:endParaRPr/>
          </a:p>
          <a:p>
            <a:pPr indent="-298450" lvl="0" marL="457200" rtl="0" algn="l">
              <a:spcBef>
                <a:spcPts val="0"/>
              </a:spcBef>
              <a:spcAft>
                <a:spcPts val="0"/>
              </a:spcAft>
              <a:buClr>
                <a:srgbClr val="000000"/>
              </a:buClr>
              <a:buSzPts val="1100"/>
              <a:buFont typeface="Arial"/>
              <a:buChar char="●"/>
            </a:pPr>
            <a:r>
              <a:rPr lang="en-GB"/>
              <a:t>Pandas: .mean() </a:t>
            </a:r>
            <a:endParaRPr/>
          </a:p>
          <a:p>
            <a:pPr indent="0" lvl="0" marL="0" rtl="0" algn="l">
              <a:spcBef>
                <a:spcPts val="1200"/>
              </a:spcBef>
              <a:spcAft>
                <a:spcPts val="0"/>
              </a:spcAft>
              <a:buNone/>
            </a:pPr>
            <a:r>
              <a:t/>
            </a:r>
            <a:endParaRPr/>
          </a:p>
          <a:p>
            <a:pPr indent="-298450" lvl="0" marL="457200" rtl="0" algn="l">
              <a:spcBef>
                <a:spcPts val="1200"/>
              </a:spcBef>
              <a:spcAft>
                <a:spcPts val="0"/>
              </a:spcAft>
              <a:buClr>
                <a:srgbClr val="000000"/>
              </a:buClr>
              <a:buSzPts val="1100"/>
              <a:buFont typeface="Arial"/>
              <a:buChar char="●"/>
            </a:pPr>
            <a:r>
              <a:rPr lang="en-GB"/>
              <a:t>Calculate the mean age of Nobel laureates in Literature.</a:t>
            </a:r>
            <a:endParaRPr/>
          </a:p>
          <a:p>
            <a:pPr indent="-298450" lvl="0" marL="457200" rtl="0" algn="l">
              <a:spcBef>
                <a:spcPts val="0"/>
              </a:spcBef>
              <a:spcAft>
                <a:spcPts val="0"/>
              </a:spcAft>
              <a:buClr>
                <a:srgbClr val="000000"/>
              </a:buClr>
              <a:buSzPts val="1100"/>
              <a:buFont typeface="Arial"/>
              <a:buChar char="●"/>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Median: Finding the Middle</a:t>
            </a:r>
            <a:endParaRPr/>
          </a:p>
        </p:txBody>
      </p:sp>
      <p:sp>
        <p:nvSpPr>
          <p:cNvPr id="114" name="Google Shape;114;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GB">
                <a:solidFill>
                  <a:srgbClr val="000000"/>
                </a:solidFill>
                <a:latin typeface="Arial"/>
                <a:ea typeface="Arial"/>
                <a:cs typeface="Arial"/>
                <a:sym typeface="Arial"/>
              </a:rPr>
              <a:t>The median is the middle value in a sorted dataset.</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a:solidFill>
                  <a:srgbClr val="000000"/>
                </a:solidFill>
                <a:latin typeface="Arial"/>
                <a:ea typeface="Arial"/>
                <a:cs typeface="Arial"/>
                <a:sym typeface="Arial"/>
              </a:rPr>
              <a:t>Example: Determine the median year of significant historical events.</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a:solidFill>
                  <a:srgbClr val="000000"/>
                </a:solidFill>
                <a:latin typeface="Arial"/>
                <a:ea typeface="Arial"/>
                <a:cs typeface="Arial"/>
                <a:sym typeface="Arial"/>
              </a:rPr>
              <a:t>The media is less sensitive to outliers, more robust, it also gives an actual </a:t>
            </a:r>
            <a:r>
              <a:rPr lang="en-GB">
                <a:solidFill>
                  <a:srgbClr val="000000"/>
                </a:solidFill>
                <a:latin typeface="Arial"/>
                <a:ea typeface="Arial"/>
                <a:cs typeface="Arial"/>
                <a:sym typeface="Arial"/>
              </a:rPr>
              <a:t>value</a:t>
            </a:r>
            <a:r>
              <a:rPr lang="en-GB">
                <a:solidFill>
                  <a:srgbClr val="000000"/>
                </a:solidFill>
                <a:latin typeface="Arial"/>
                <a:ea typeface="Arial"/>
                <a:cs typeface="Arial"/>
                <a:sym typeface="Arial"/>
              </a:rPr>
              <a:t> from the dataset.</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Dispersion: Standard Deviation and Variance</a:t>
            </a:r>
            <a:endParaRPr/>
          </a:p>
        </p:txBody>
      </p:sp>
      <p:sp>
        <p:nvSpPr>
          <p:cNvPr id="120" name="Google Shape;120;p19"/>
          <p:cNvSpPr txBox="1"/>
          <p:nvPr>
            <p:ph idx="1" type="body"/>
          </p:nvPr>
        </p:nvSpPr>
        <p:spPr>
          <a:xfrm>
            <a:off x="729450" y="2078875"/>
            <a:ext cx="4678200" cy="2261100"/>
          </a:xfrm>
          <a:prstGeom prst="rect">
            <a:avLst/>
          </a:prstGeom>
        </p:spPr>
        <p:txBody>
          <a:bodyPr anchorCtr="0" anchor="t" bIns="91425" lIns="91425" spcFirstLastPara="1" rIns="91425" wrap="square" tIns="91425">
            <a:normAutofit fontScale="92500" lnSpcReduction="10000"/>
          </a:bodyPr>
          <a:lstStyle/>
          <a:p>
            <a:pPr indent="-304958" lvl="0" marL="457200" rtl="0" algn="l">
              <a:spcBef>
                <a:spcPts val="0"/>
              </a:spcBef>
              <a:spcAft>
                <a:spcPts val="0"/>
              </a:spcAft>
              <a:buSzPct val="100000"/>
              <a:buChar char="-"/>
            </a:pPr>
            <a:r>
              <a:rPr lang="en-GB"/>
              <a:t>Standard deviation </a:t>
            </a:r>
            <a:endParaRPr/>
          </a:p>
          <a:p>
            <a:pPr indent="-293211" lvl="1" marL="914400" rtl="0" algn="l">
              <a:spcBef>
                <a:spcPts val="0"/>
              </a:spcBef>
              <a:spcAft>
                <a:spcPts val="0"/>
              </a:spcAft>
              <a:buSzPct val="100000"/>
              <a:buChar char="-"/>
            </a:pPr>
            <a:r>
              <a:rPr lang="en-GB"/>
              <a:t>measures the amount of variation or dispersion in a dataset.</a:t>
            </a:r>
            <a:endParaRPr/>
          </a:p>
          <a:p>
            <a:pPr indent="-304958" lvl="0" marL="457200" rtl="0" algn="l">
              <a:spcBef>
                <a:spcPts val="0"/>
              </a:spcBef>
              <a:spcAft>
                <a:spcPts val="0"/>
              </a:spcAft>
              <a:buSzPct val="100000"/>
              <a:buChar char="-"/>
            </a:pPr>
            <a:r>
              <a:rPr lang="en-GB"/>
              <a:t>Variance</a:t>
            </a:r>
            <a:endParaRPr/>
          </a:p>
          <a:p>
            <a:pPr indent="-293211" lvl="1" marL="914400" rtl="0" algn="l">
              <a:spcBef>
                <a:spcPts val="0"/>
              </a:spcBef>
              <a:spcAft>
                <a:spcPts val="0"/>
              </a:spcAft>
              <a:buSzPct val="100000"/>
              <a:buChar char="-"/>
            </a:pPr>
            <a:r>
              <a:rPr lang="en-GB"/>
              <a:t>the average of the squared differences from the Mean</a:t>
            </a:r>
            <a:endParaRPr/>
          </a:p>
          <a:p>
            <a:pPr indent="-304958" lvl="0" marL="457200" rtl="0" algn="l">
              <a:spcBef>
                <a:spcPts val="0"/>
              </a:spcBef>
              <a:spcAft>
                <a:spcPts val="0"/>
              </a:spcAft>
              <a:buSzPct val="100000"/>
              <a:buChar char="-"/>
            </a:pPr>
            <a:r>
              <a:rPr lang="en-GB"/>
              <a:t>Mean Absolute Deviation</a:t>
            </a:r>
            <a:endParaRPr/>
          </a:p>
          <a:p>
            <a:pPr indent="-293211" lvl="1" marL="914400" rtl="0" algn="l">
              <a:spcBef>
                <a:spcPts val="0"/>
              </a:spcBef>
              <a:spcAft>
                <a:spcPts val="0"/>
              </a:spcAft>
              <a:buSzPct val="100000"/>
              <a:buChar char="-"/>
            </a:pPr>
            <a:r>
              <a:rPr lang="en-GB"/>
              <a:t>the average of the absolute differences between each datapoint and the mean of the dataset</a:t>
            </a:r>
            <a:endParaRPr/>
          </a:p>
          <a:p>
            <a:pPr indent="-304958" lvl="0" marL="457200" rtl="0" algn="l">
              <a:spcBef>
                <a:spcPts val="0"/>
              </a:spcBef>
              <a:spcAft>
                <a:spcPts val="0"/>
              </a:spcAft>
              <a:buSzPct val="100000"/>
              <a:buChar char="-"/>
            </a:pPr>
            <a:r>
              <a:rPr lang="en-GB"/>
              <a:t>Interquartile Range (IQR)</a:t>
            </a:r>
            <a:endParaRPr/>
          </a:p>
          <a:p>
            <a:pPr indent="-293211" lvl="1" marL="914400" rtl="0" algn="l">
              <a:spcBef>
                <a:spcPts val="0"/>
              </a:spcBef>
              <a:spcAft>
                <a:spcPts val="0"/>
              </a:spcAft>
              <a:buSzPct val="100000"/>
              <a:buChar char="-"/>
            </a:pPr>
            <a:r>
              <a:rPr lang="en-GB"/>
              <a:t>Difference between the upper and lower quartiles of the dataset</a:t>
            </a:r>
            <a:endParaRPr/>
          </a:p>
          <a:p>
            <a:pPr indent="-293211" lvl="2" marL="1371600" rtl="0" algn="l">
              <a:spcBef>
                <a:spcPts val="0"/>
              </a:spcBef>
              <a:spcAft>
                <a:spcPts val="0"/>
              </a:spcAft>
              <a:buSzPct val="100000"/>
              <a:buChar char="-"/>
            </a:pPr>
            <a:r>
              <a:rPr lang="en-GB"/>
              <a:t>IQR = Q3 (median of the upper half) - Q1 (median of the lower half) </a:t>
            </a:r>
            <a:endParaRPr/>
          </a:p>
        </p:txBody>
      </p:sp>
      <p:pic>
        <p:nvPicPr>
          <p:cNvPr id="121" name="Google Shape;121;p19"/>
          <p:cNvPicPr preferRelativeResize="0"/>
          <p:nvPr/>
        </p:nvPicPr>
        <p:blipFill>
          <a:blip r:embed="rId3">
            <a:alphaModFix/>
          </a:blip>
          <a:stretch>
            <a:fillRect/>
          </a:stretch>
        </p:blipFill>
        <p:spPr>
          <a:xfrm>
            <a:off x="5524825" y="2078875"/>
            <a:ext cx="3431550" cy="237834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Entropy</a:t>
            </a:r>
            <a:endParaRPr/>
          </a:p>
        </p:txBody>
      </p:sp>
      <p:sp>
        <p:nvSpPr>
          <p:cNvPr id="127" name="Google Shape;127;p20"/>
          <p:cNvSpPr txBox="1"/>
          <p:nvPr>
            <p:ph idx="1" type="body"/>
          </p:nvPr>
        </p:nvSpPr>
        <p:spPr>
          <a:xfrm>
            <a:off x="729450" y="2078875"/>
            <a:ext cx="4704600" cy="22611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GB"/>
              <a:t>a measure of the unpredictability/uncertainty or </a:t>
            </a:r>
            <a:r>
              <a:rPr lang="en-GB"/>
              <a:t>surprise</a:t>
            </a:r>
            <a:r>
              <a:rPr lang="en-GB"/>
              <a:t> of information</a:t>
            </a:r>
            <a:endParaRPr/>
          </a:p>
          <a:p>
            <a:pPr indent="-311150" lvl="0" marL="457200" rtl="0" algn="l">
              <a:spcBef>
                <a:spcPts val="0"/>
              </a:spcBef>
              <a:spcAft>
                <a:spcPts val="0"/>
              </a:spcAft>
              <a:buSzPts val="1300"/>
              <a:buChar char="-"/>
            </a:pPr>
            <a:r>
              <a:rPr lang="en-GB"/>
              <a:t>how much information is needed to describe a certain state or how unpredictable a source of information is.</a:t>
            </a:r>
            <a:endParaRPr/>
          </a:p>
          <a:p>
            <a:pPr indent="-311150" lvl="0" marL="457200" rtl="0" algn="l">
              <a:spcBef>
                <a:spcPts val="0"/>
              </a:spcBef>
              <a:spcAft>
                <a:spcPts val="0"/>
              </a:spcAft>
              <a:buSzPts val="1300"/>
              <a:buChar char="-"/>
            </a:pPr>
            <a:r>
              <a:rPr lang="en-GB"/>
              <a:t>Developed by Claude Shannon in 1940s</a:t>
            </a:r>
            <a:endParaRPr/>
          </a:p>
          <a:p>
            <a:pPr indent="-311150" lvl="0" marL="457200" rtl="0" algn="l">
              <a:spcBef>
                <a:spcPts val="0"/>
              </a:spcBef>
              <a:spcAft>
                <a:spcPts val="0"/>
              </a:spcAft>
              <a:buSzPts val="1300"/>
              <a:buChar char="-"/>
            </a:pPr>
            <a:r>
              <a:rPr lang="en-GB"/>
              <a:t>The more unpredictable or varied the information, the higher its entropy.</a:t>
            </a:r>
            <a:endParaRPr/>
          </a:p>
          <a:p>
            <a:pPr indent="-311150" lvl="0" marL="457200" rtl="0" algn="l">
              <a:spcBef>
                <a:spcPts val="0"/>
              </a:spcBef>
              <a:spcAft>
                <a:spcPts val="0"/>
              </a:spcAft>
              <a:buSzPts val="1300"/>
              <a:buChar char="-"/>
            </a:pPr>
            <a:r>
              <a:rPr lang="en-GB"/>
              <a:t>We can also use it to express the diversity of categorical values</a:t>
            </a:r>
            <a:endParaRPr/>
          </a:p>
          <a:p>
            <a:pPr indent="-298450" lvl="1" marL="914400" rtl="0" algn="l">
              <a:spcBef>
                <a:spcPts val="0"/>
              </a:spcBef>
              <a:spcAft>
                <a:spcPts val="0"/>
              </a:spcAft>
              <a:buSzPts val="1100"/>
              <a:buChar char="-"/>
            </a:pPr>
            <a:r>
              <a:rPr lang="en-GB"/>
              <a:t>Low entropy is less diverse</a:t>
            </a:r>
            <a:endParaRPr/>
          </a:p>
        </p:txBody>
      </p:sp>
      <p:pic>
        <p:nvPicPr>
          <p:cNvPr id="128" name="Google Shape;128;p20"/>
          <p:cNvPicPr preferRelativeResize="0"/>
          <p:nvPr/>
        </p:nvPicPr>
        <p:blipFill>
          <a:blip r:embed="rId3">
            <a:alphaModFix/>
          </a:blip>
          <a:stretch>
            <a:fillRect/>
          </a:stretch>
        </p:blipFill>
        <p:spPr>
          <a:xfrm>
            <a:off x="6405550" y="1079325"/>
            <a:ext cx="2119243" cy="2984850"/>
          </a:xfrm>
          <a:prstGeom prst="rect">
            <a:avLst/>
          </a:prstGeom>
          <a:noFill/>
          <a:ln>
            <a:noFill/>
          </a:ln>
        </p:spPr>
      </p:pic>
      <p:sp>
        <p:nvSpPr>
          <p:cNvPr id="129" name="Google Shape;129;p20"/>
          <p:cNvSpPr txBox="1"/>
          <p:nvPr/>
        </p:nvSpPr>
        <p:spPr>
          <a:xfrm>
            <a:off x="6860925" y="4262775"/>
            <a:ext cx="2298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Claude Shannon</a:t>
            </a:r>
            <a:endParaRPr sz="13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Concept of Entropy: Yes or No Questions</a:t>
            </a:r>
            <a:endParaRPr/>
          </a:p>
        </p:txBody>
      </p:sp>
      <p:sp>
        <p:nvSpPr>
          <p:cNvPr id="135" name="Google Shape;135;p21"/>
          <p:cNvSpPr txBox="1"/>
          <p:nvPr>
            <p:ph idx="1" type="body"/>
          </p:nvPr>
        </p:nvSpPr>
        <p:spPr>
          <a:xfrm>
            <a:off x="729450" y="2078875"/>
            <a:ext cx="37359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How many yes-or-no questions would it take to transmit a seven-day weather forecast? </a:t>
            </a:r>
            <a:endParaRPr/>
          </a:p>
          <a:p>
            <a:pPr indent="0" lvl="0" marL="0" rtl="0" algn="l">
              <a:spcBef>
                <a:spcPts val="1200"/>
              </a:spcBef>
              <a:spcAft>
                <a:spcPts val="0"/>
              </a:spcAft>
              <a:buNone/>
            </a:pPr>
            <a:r>
              <a:t/>
            </a:r>
            <a:endParaRPr/>
          </a:p>
          <a:p>
            <a:pPr indent="-304958" lvl="0" marL="457200" rtl="0" algn="l">
              <a:spcBef>
                <a:spcPts val="1200"/>
              </a:spcBef>
              <a:spcAft>
                <a:spcPts val="0"/>
              </a:spcAft>
              <a:buSzPct val="100000"/>
              <a:buChar char="-"/>
            </a:pPr>
            <a:r>
              <a:rPr lang="en-GB"/>
              <a:t>Are all days going to be sunny? (Yes) </a:t>
            </a:r>
            <a:endParaRPr/>
          </a:p>
          <a:p>
            <a:pPr indent="-304958" lvl="0" marL="457200" rtl="0" algn="l">
              <a:spcBef>
                <a:spcPts val="0"/>
              </a:spcBef>
              <a:spcAft>
                <a:spcPts val="0"/>
              </a:spcAft>
              <a:buSzPct val="100000"/>
              <a:buChar char="-"/>
            </a:pPr>
            <a:r>
              <a:rPr lang="en-GB"/>
              <a:t>If you need more questions, there is more unpredictability, and entropy increases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Entropy for Humanists</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85000" lnSpcReduction="10000"/>
          </a:bodyPr>
          <a:lstStyle/>
          <a:p>
            <a:pPr indent="-287972" lvl="0" marL="457200" rtl="0" algn="l">
              <a:spcBef>
                <a:spcPts val="1200"/>
              </a:spcBef>
              <a:spcAft>
                <a:spcPts val="0"/>
              </a:spcAft>
              <a:buClr>
                <a:srgbClr val="000000"/>
              </a:buClr>
              <a:buSzPct val="100000"/>
              <a:buFont typeface="Arial"/>
              <a:buAutoNum type="arabicPeriod"/>
            </a:pPr>
            <a:r>
              <a:rPr b="1" lang="en-GB" sz="1100">
                <a:solidFill>
                  <a:srgbClr val="000000"/>
                </a:solidFill>
                <a:latin typeface="Arial"/>
                <a:ea typeface="Arial"/>
                <a:cs typeface="Arial"/>
                <a:sym typeface="Arial"/>
              </a:rPr>
              <a:t>Language and Text</a:t>
            </a:r>
            <a:r>
              <a:rPr lang="en-GB" sz="1100">
                <a:solidFill>
                  <a:srgbClr val="000000"/>
                </a:solidFill>
                <a:latin typeface="Arial"/>
                <a:ea typeface="Arial"/>
                <a:cs typeface="Arial"/>
                <a:sym typeface="Arial"/>
              </a:rPr>
              <a:t>: Entropy can be used to measure the </a:t>
            </a:r>
            <a:r>
              <a:rPr b="1" lang="en-GB" sz="1100">
                <a:solidFill>
                  <a:srgbClr val="000000"/>
                </a:solidFill>
                <a:latin typeface="Arial"/>
                <a:ea typeface="Arial"/>
                <a:cs typeface="Arial"/>
                <a:sym typeface="Arial"/>
              </a:rPr>
              <a:t>richness</a:t>
            </a:r>
            <a:r>
              <a:rPr lang="en-GB" sz="1100">
                <a:solidFill>
                  <a:srgbClr val="000000"/>
                </a:solidFill>
                <a:latin typeface="Arial"/>
                <a:ea typeface="Arial"/>
                <a:cs typeface="Arial"/>
                <a:sym typeface="Arial"/>
              </a:rPr>
              <a:t> or </a:t>
            </a:r>
            <a:r>
              <a:rPr b="1" lang="en-GB" sz="1100">
                <a:solidFill>
                  <a:srgbClr val="000000"/>
                </a:solidFill>
                <a:latin typeface="Arial"/>
                <a:ea typeface="Arial"/>
                <a:cs typeface="Arial"/>
                <a:sym typeface="Arial"/>
              </a:rPr>
              <a:t>complexity</a:t>
            </a:r>
            <a:r>
              <a:rPr lang="en-GB" sz="1100">
                <a:solidFill>
                  <a:srgbClr val="000000"/>
                </a:solidFill>
                <a:latin typeface="Arial"/>
                <a:ea typeface="Arial"/>
                <a:cs typeface="Arial"/>
                <a:sym typeface="Arial"/>
              </a:rPr>
              <a:t> of a language or piece of text. For example, a text with a very limited vocabulary and repetitive phrases has low entropy because it's predictable. In contrast, a text with a diverse vocabulary and varied sentence structures has high entropy, reflecting its complexity and the amount of information it conveys.</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7972" lvl="0" marL="457200" rtl="0" algn="l">
              <a:spcBef>
                <a:spcPts val="0"/>
              </a:spcBef>
              <a:spcAft>
                <a:spcPts val="0"/>
              </a:spcAft>
              <a:buClr>
                <a:srgbClr val="000000"/>
              </a:buClr>
              <a:buSzPct val="100000"/>
              <a:buFont typeface="Arial"/>
              <a:buAutoNum type="arabicPeriod"/>
            </a:pPr>
            <a:r>
              <a:rPr b="1" lang="en-GB" sz="1100">
                <a:solidFill>
                  <a:srgbClr val="000000"/>
                </a:solidFill>
                <a:latin typeface="Arial"/>
                <a:ea typeface="Arial"/>
                <a:cs typeface="Arial"/>
                <a:sym typeface="Arial"/>
              </a:rPr>
              <a:t>Cultural Trends</a:t>
            </a:r>
            <a:r>
              <a:rPr lang="en-GB" sz="1100">
                <a:solidFill>
                  <a:srgbClr val="000000"/>
                </a:solidFill>
                <a:latin typeface="Arial"/>
                <a:ea typeface="Arial"/>
                <a:cs typeface="Arial"/>
                <a:sym typeface="Arial"/>
              </a:rPr>
              <a:t>: Just as entropy measures the unpredictability in data, it can metaphorically apply to cultural phenomena. High entropy in a cultural context could mean a diverse and rapidly changing culture with many influences and outcomes. Low entropy could indicate a more uniform, stable culture with predictable patterns.</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7972" lvl="0" marL="457200" rtl="0" algn="l">
              <a:spcBef>
                <a:spcPts val="0"/>
              </a:spcBef>
              <a:spcAft>
                <a:spcPts val="0"/>
              </a:spcAft>
              <a:buClr>
                <a:srgbClr val="000000"/>
              </a:buClr>
              <a:buSzPct val="100000"/>
              <a:buFont typeface="Arial"/>
              <a:buAutoNum type="arabicPeriod"/>
            </a:pPr>
            <a:r>
              <a:rPr b="1" lang="en-GB" sz="1100">
                <a:solidFill>
                  <a:srgbClr val="000000"/>
                </a:solidFill>
                <a:latin typeface="Arial"/>
                <a:ea typeface="Arial"/>
                <a:cs typeface="Arial"/>
                <a:sym typeface="Arial"/>
              </a:rPr>
              <a:t>Historical Analysis</a:t>
            </a:r>
            <a:r>
              <a:rPr lang="en-GB" sz="1100">
                <a:solidFill>
                  <a:srgbClr val="000000"/>
                </a:solidFill>
                <a:latin typeface="Arial"/>
                <a:ea typeface="Arial"/>
                <a:cs typeface="Arial"/>
                <a:sym typeface="Arial"/>
              </a:rPr>
              <a:t>: Historians can use entropy to understand the diversity of events or influences over time. High entropy periods in history might be those with chaotic, unpredictable events (like revolutions or social upheavals), while low entropy could denote stable, unchanging periods.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Measuring Associations: correlation is not causation</a:t>
            </a:r>
            <a:endParaRPr/>
          </a:p>
        </p:txBody>
      </p:sp>
      <p:sp>
        <p:nvSpPr>
          <p:cNvPr id="147" name="Google Shape;147;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3"/>
          <p:cNvPicPr preferRelativeResize="0"/>
          <p:nvPr/>
        </p:nvPicPr>
        <p:blipFill>
          <a:blip r:embed="rId3">
            <a:alphaModFix/>
          </a:blip>
          <a:stretch>
            <a:fillRect/>
          </a:stretch>
        </p:blipFill>
        <p:spPr>
          <a:xfrm>
            <a:off x="1875976" y="1957425"/>
            <a:ext cx="4422698" cy="30240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Correlation</a:t>
            </a:r>
            <a:endParaRPr/>
          </a:p>
        </p:txBody>
      </p:sp>
      <p:sp>
        <p:nvSpPr>
          <p:cNvPr id="154" name="Google Shape;154;p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Clr>
                <a:srgbClr val="434343"/>
              </a:buClr>
              <a:buSzPts val="1300"/>
              <a:buChar char="-"/>
            </a:pPr>
            <a:r>
              <a:rPr lang="en-GB">
                <a:solidFill>
                  <a:srgbClr val="434343"/>
                </a:solidFill>
              </a:rPr>
              <a:t>Spearman’s and Kendall’s rank </a:t>
            </a:r>
            <a:r>
              <a:rPr lang="en-GB">
                <a:solidFill>
                  <a:srgbClr val="434343"/>
                </a:solidFill>
              </a:rPr>
              <a:t>correlation</a:t>
            </a:r>
            <a:r>
              <a:rPr lang="en-GB">
                <a:solidFill>
                  <a:srgbClr val="434343"/>
                </a:solidFill>
              </a:rPr>
              <a:t> coefficient are measures used to assess the strength and direction of the association between two ranked variables (i.e. they are ordered)</a:t>
            </a:r>
            <a:endParaRPr>
              <a:solidFill>
                <a:srgbClr val="434343"/>
              </a:solidFill>
            </a:endParaRPr>
          </a:p>
          <a:p>
            <a:pPr indent="-311150" lvl="0" marL="457200" rtl="0" algn="l">
              <a:spcBef>
                <a:spcPts val="0"/>
              </a:spcBef>
              <a:spcAft>
                <a:spcPts val="0"/>
              </a:spcAft>
              <a:buClr>
                <a:srgbClr val="434343"/>
              </a:buClr>
              <a:buSzPts val="1300"/>
              <a:buChar char="-"/>
            </a:pPr>
            <a:r>
              <a:rPr lang="en-GB">
                <a:solidFill>
                  <a:srgbClr val="434343"/>
                </a:solidFill>
              </a:rPr>
              <a:t>Interpretation: </a:t>
            </a:r>
            <a:endParaRPr>
              <a:solidFill>
                <a:srgbClr val="434343"/>
              </a:solidFill>
            </a:endParaRPr>
          </a:p>
          <a:p>
            <a:pPr indent="-298450" lvl="1" marL="914400" rtl="0" algn="l">
              <a:spcBef>
                <a:spcPts val="0"/>
              </a:spcBef>
              <a:spcAft>
                <a:spcPts val="0"/>
              </a:spcAft>
              <a:buClr>
                <a:srgbClr val="434343"/>
              </a:buClr>
              <a:buSzPts val="1100"/>
              <a:buChar char="-"/>
            </a:pPr>
            <a:r>
              <a:rPr lang="en-GB">
                <a:solidFill>
                  <a:srgbClr val="434343"/>
                </a:solidFill>
              </a:rPr>
              <a:t>-1 is a negative correlation (one goes up the other goes down)</a:t>
            </a:r>
            <a:endParaRPr>
              <a:solidFill>
                <a:srgbClr val="434343"/>
              </a:solidFill>
            </a:endParaRPr>
          </a:p>
          <a:p>
            <a:pPr indent="-298450" lvl="1" marL="914400" rtl="0" algn="l">
              <a:spcBef>
                <a:spcPts val="0"/>
              </a:spcBef>
              <a:spcAft>
                <a:spcPts val="0"/>
              </a:spcAft>
              <a:buClr>
                <a:srgbClr val="434343"/>
              </a:buClr>
              <a:buSzPts val="1100"/>
              <a:buChar char="-"/>
            </a:pPr>
            <a:r>
              <a:rPr lang="en-GB">
                <a:solidFill>
                  <a:srgbClr val="434343"/>
                </a:solidFill>
              </a:rPr>
              <a:t>0 no correlation</a:t>
            </a:r>
            <a:endParaRPr>
              <a:solidFill>
                <a:srgbClr val="434343"/>
              </a:solidFill>
            </a:endParaRPr>
          </a:p>
          <a:p>
            <a:pPr indent="-298450" lvl="1" marL="914400" rtl="0" algn="l">
              <a:spcBef>
                <a:spcPts val="0"/>
              </a:spcBef>
              <a:spcAft>
                <a:spcPts val="0"/>
              </a:spcAft>
              <a:buClr>
                <a:srgbClr val="434343"/>
              </a:buClr>
              <a:buSzPts val="1100"/>
              <a:buChar char="-"/>
            </a:pPr>
            <a:r>
              <a:rPr lang="en-GB">
                <a:solidFill>
                  <a:srgbClr val="434343"/>
                </a:solidFill>
              </a:rPr>
              <a:t>1 is a positive correlation (one goes up and the other also goes up)</a:t>
            </a:r>
            <a:endParaRPr sz="1100">
              <a:solidFill>
                <a:srgbClr val="434343"/>
              </a:solidFill>
            </a:endParaRPr>
          </a:p>
          <a:p>
            <a:pPr indent="-311150" lvl="0" marL="457200" rtl="0" algn="l">
              <a:spcBef>
                <a:spcPts val="0"/>
              </a:spcBef>
              <a:spcAft>
                <a:spcPts val="0"/>
              </a:spcAft>
              <a:buClr>
                <a:srgbClr val="434343"/>
              </a:buClr>
              <a:buSzPts val="1300"/>
              <a:buFont typeface="Arial"/>
              <a:buChar char="-"/>
            </a:pPr>
            <a:r>
              <a:rPr lang="en-GB">
                <a:solidFill>
                  <a:srgbClr val="434343"/>
                </a:solidFill>
              </a:rPr>
              <a:t>Use </a:t>
            </a:r>
            <a:r>
              <a:rPr b="1" lang="en-GB">
                <a:solidFill>
                  <a:srgbClr val="434343"/>
                </a:solidFill>
              </a:rPr>
              <a:t>Spearman's</a:t>
            </a:r>
            <a:r>
              <a:rPr lang="en-GB">
                <a:solidFill>
                  <a:srgbClr val="434343"/>
                </a:solidFill>
              </a:rPr>
              <a:t> for ranked data or when dealing with non-linear but monotonic relationships, especially with outliers or skewed distributions.</a:t>
            </a:r>
            <a:endParaRPr>
              <a:solidFill>
                <a:srgbClr val="434343"/>
              </a:solidFill>
            </a:endParaRPr>
          </a:p>
          <a:p>
            <a:pPr indent="-311150" lvl="0" marL="457200" rtl="0" algn="l">
              <a:spcBef>
                <a:spcPts val="0"/>
              </a:spcBef>
              <a:spcAft>
                <a:spcPts val="0"/>
              </a:spcAft>
              <a:buClr>
                <a:srgbClr val="434343"/>
              </a:buClr>
              <a:buSzPts val="1300"/>
              <a:buFont typeface="Arial"/>
              <a:buChar char="-"/>
            </a:pPr>
            <a:r>
              <a:rPr lang="en-GB">
                <a:solidFill>
                  <a:srgbClr val="434343"/>
                </a:solidFill>
              </a:rPr>
              <a:t>Use </a:t>
            </a:r>
            <a:r>
              <a:rPr b="1" lang="en-GB">
                <a:solidFill>
                  <a:srgbClr val="434343"/>
                </a:solidFill>
              </a:rPr>
              <a:t>Kendall's</a:t>
            </a:r>
            <a:r>
              <a:rPr lang="en-GB">
                <a:solidFill>
                  <a:srgbClr val="434343"/>
                </a:solidFill>
              </a:rPr>
              <a:t> in situations with small samples, many ties, or when a more robust measure against non-linearities and outliers is needed.</a:t>
            </a:r>
            <a:endParaRPr>
              <a:solidFill>
                <a:srgbClr val="434343"/>
              </a:solidFill>
            </a:endParaRPr>
          </a:p>
          <a:p>
            <a:pPr indent="-311150" lvl="0" marL="457200" rtl="0" algn="l">
              <a:spcBef>
                <a:spcPts val="0"/>
              </a:spcBef>
              <a:spcAft>
                <a:spcPts val="0"/>
              </a:spcAft>
              <a:buClr>
                <a:srgbClr val="434343"/>
              </a:buClr>
              <a:buSzPts val="1300"/>
              <a:buChar char="-"/>
            </a:pPr>
            <a:r>
              <a:rPr lang="en-GB">
                <a:solidFill>
                  <a:srgbClr val="434343"/>
                </a:solidFill>
              </a:rPr>
              <a:t>For continuous data use Pearson’s correlation</a:t>
            </a:r>
            <a:endParaRPr>
              <a:solidFill>
                <a:srgbClr val="43434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Mutual Information</a:t>
            </a:r>
            <a:endParaRPr/>
          </a:p>
        </p:txBody>
      </p:sp>
      <p:sp>
        <p:nvSpPr>
          <p:cNvPr id="160" name="Google Shape;160;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Concept from</a:t>
            </a:r>
            <a:r>
              <a:rPr lang="en-GB"/>
              <a:t> information theory that measures the amount of information one variable contains about another</a:t>
            </a:r>
            <a:endParaRPr/>
          </a:p>
          <a:p>
            <a:pPr indent="-311150" lvl="0" marL="457200" rtl="0" algn="l">
              <a:spcBef>
                <a:spcPts val="0"/>
              </a:spcBef>
              <a:spcAft>
                <a:spcPts val="0"/>
              </a:spcAft>
              <a:buSzPts val="1300"/>
              <a:buChar char="-"/>
            </a:pPr>
            <a:r>
              <a:rPr lang="en-GB"/>
              <a:t>Related to entropy</a:t>
            </a:r>
            <a:endParaRPr/>
          </a:p>
          <a:p>
            <a:pPr indent="-311150" lvl="0" marL="457200" rtl="0" algn="l">
              <a:spcBef>
                <a:spcPts val="0"/>
              </a:spcBef>
              <a:spcAft>
                <a:spcPts val="0"/>
              </a:spcAft>
              <a:buSzPts val="1300"/>
              <a:buChar char="-"/>
            </a:pPr>
            <a:r>
              <a:rPr lang="en-GB"/>
              <a:t>It quantifies how much knowing about one variable reduces your surprise or uncertainty about the other (goes beyond linear correlations)</a:t>
            </a:r>
            <a:endParaRPr/>
          </a:p>
          <a:p>
            <a:pPr indent="-311150" lvl="0" marL="457200" rtl="0" algn="l">
              <a:spcBef>
                <a:spcPts val="0"/>
              </a:spcBef>
              <a:spcAft>
                <a:spcPts val="0"/>
              </a:spcAft>
              <a:buSzPts val="1300"/>
              <a:buChar char="-"/>
            </a:pPr>
            <a:r>
              <a:rPr lang="en-GB"/>
              <a:t>Higher MI indicates more dependence between variables</a:t>
            </a:r>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Mutual Information Example</a:t>
            </a:r>
            <a:endParaRPr/>
          </a:p>
        </p:txBody>
      </p:sp>
      <p:sp>
        <p:nvSpPr>
          <p:cNvPr id="166" name="Google Shape;166;p26"/>
          <p:cNvSpPr txBox="1"/>
          <p:nvPr>
            <p:ph idx="1" type="body"/>
          </p:nvPr>
        </p:nvSpPr>
        <p:spPr>
          <a:xfrm>
            <a:off x="729450" y="2078875"/>
            <a:ext cx="474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Imagine you're analyzing a set of novels to understand the relationship between the setting (e.g., urban vs. rural) and the theme (e.g., romance vs. adventure). Mutual information could quantify how much knowing the setting reduces uncertainty about the theme. </a:t>
            </a:r>
            <a:endParaRPr/>
          </a:p>
          <a:p>
            <a:pPr indent="-311150" lvl="0" marL="457200" rtl="0" algn="l">
              <a:spcBef>
                <a:spcPts val="0"/>
              </a:spcBef>
              <a:spcAft>
                <a:spcPts val="0"/>
              </a:spcAft>
              <a:buSzPts val="1300"/>
              <a:buChar char="-"/>
            </a:pPr>
            <a:r>
              <a:rPr lang="en-GB"/>
              <a:t>If mutual information is high, then knowing the setting gives significant insight into the likely themes of the novel; if it's low, the setting doesn't tell you much about the theme.</a:t>
            </a:r>
            <a:endParaRPr/>
          </a:p>
        </p:txBody>
      </p:sp>
      <p:pic>
        <p:nvPicPr>
          <p:cNvPr id="167" name="Google Shape;167;p26"/>
          <p:cNvPicPr preferRelativeResize="0"/>
          <p:nvPr/>
        </p:nvPicPr>
        <p:blipFill>
          <a:blip r:embed="rId3">
            <a:alphaModFix/>
          </a:blip>
          <a:stretch>
            <a:fillRect/>
          </a:stretch>
        </p:blipFill>
        <p:spPr>
          <a:xfrm>
            <a:off x="5595325" y="1853850"/>
            <a:ext cx="3361050" cy="23665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